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6" r:id="rId1"/>
  </p:sldMasterIdLst>
  <p:notesMasterIdLst>
    <p:notesMasterId r:id="rId9"/>
  </p:notesMasterIdLst>
  <p:sldIdLst>
    <p:sldId id="261" r:id="rId2"/>
    <p:sldId id="269" r:id="rId3"/>
    <p:sldId id="268" r:id="rId4"/>
    <p:sldId id="263" r:id="rId5"/>
    <p:sldId id="264" r:id="rId6"/>
    <p:sldId id="265" r:id="rId7"/>
    <p:sldId id="267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07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3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82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500D5-CE78-1368-C404-A569B37A5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9C157D-1C9D-29E6-E010-B3819E6E8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68FF7-3BB2-C2F8-3776-4A432D32E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C4D74-055A-9305-E92C-5E24BC25FC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585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271D8-70D9-2946-4517-2BACA558C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2047E-1849-C21C-3443-D9882D6A0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1A8FC-91BE-D51D-3FEC-75171C9E9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0BB8B-D074-1043-D328-9B0F52B24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479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A0410-027E-789E-89C6-287901337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477D9-D808-C4BA-9A06-69C72F037B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1CF2BF-1737-1D90-C4EE-FA2AE7141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F4DA8-D348-FA10-AFA0-27C6BAFF90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34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1551C-4DC3-5E76-1E1D-419279AF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0BB80-620D-4E79-B0EE-C9A276600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64216-47D1-15F3-8AE9-2185C867F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D2D84-D71E-DDEA-098F-769F9064BF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52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5A7F4-9CDE-F3F6-92AF-C0ABA4124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5E5D0-E092-AC60-A5EC-BBB7B12AF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C7394-44FC-9BE9-5794-82B81EC2D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7724D-845B-D2BE-1276-0FCEA4A17F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99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41811-AC7C-9226-E9E7-9BB88E28A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1208A4-0772-C1E0-C111-EE21DE1CD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7000A-FDC1-2E71-FD9B-852CEC8AB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E294C-AE03-E12D-6159-18FE0FD388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91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4990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46077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2128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3680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92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0770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5746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0178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161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999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90968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241140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272304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81366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3677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2064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344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58728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44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86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35157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02940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28931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5778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04805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22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92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650175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EB47F8C-CED3-F64D-B702-DEB02823659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22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  <p:sldLayoutId id="2147483804" r:id="rId18"/>
    <p:sldLayoutId id="2147483805" r:id="rId19"/>
    <p:sldLayoutId id="2147483806" r:id="rId20"/>
    <p:sldLayoutId id="2147483807" r:id="rId21"/>
    <p:sldLayoutId id="2147483808" r:id="rId22"/>
    <p:sldLayoutId id="2147483809" r:id="rId23"/>
    <p:sldLayoutId id="2147483810" r:id="rId24"/>
    <p:sldLayoutId id="2147483811" r:id="rId25"/>
    <p:sldLayoutId id="2147483812" r:id="rId26"/>
    <p:sldLayoutId id="2147483813" r:id="rId27"/>
    <p:sldLayoutId id="2147483814" r:id="rId28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3D59B-D430-BF53-8290-0C299184F46B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746760" y="4773469"/>
            <a:ext cx="10698480" cy="777240"/>
          </a:xfrm>
        </p:spPr>
        <p:txBody>
          <a:bodyPr/>
          <a:lstStyle/>
          <a:p>
            <a:r>
              <a:rPr lang="en-US" sz="4500" b="0"/>
              <a:t>📖  </a:t>
            </a:r>
            <a:r>
              <a:rPr lang="en-US" sz="4500"/>
              <a:t>Bookly Pitch Deck</a:t>
            </a:r>
            <a:endParaRPr lang="en-US" sz="4500" dirty="0"/>
          </a:p>
        </p:txBody>
      </p:sp>
    </p:spTree>
    <p:extLst>
      <p:ext uri="{BB962C8B-B14F-4D97-AF65-F5344CB8AC3E}">
        <p14:creationId xmlns:p14="http://schemas.microsoft.com/office/powerpoint/2010/main" val="2817280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98716-7234-67D1-EDE4-8EE15A0F8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3CFA7733-0BD2-124B-906B-54783AADFEA6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Proposed agenda</a:t>
            </a:r>
            <a:endParaRPr lang="en-US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FF8EEFCD-B779-245D-EA0C-A1F94A7E9092}"/>
              </a:ext>
            </a:extLst>
          </p:cNvPr>
          <p:cNvSpPr txBox="1"/>
          <p:nvPr/>
        </p:nvSpPr>
        <p:spPr>
          <a:xfrm>
            <a:off x="731520" y="30632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514350" indent="-514350">
              <a:buFont typeface="+mj-lt"/>
              <a:buAutoNum type="arabicPeriod"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</a:rPr>
              <a:t>Background and architecture</a:t>
            </a:r>
          </a:p>
          <a:p>
            <a:pPr marL="514350" indent="-514350">
              <a:buFont typeface="+mj-lt"/>
              <a:buAutoNum type="arabicPeriod"/>
            </a:pPr>
            <a:endParaRPr lang="en-US" sz="3000" b="1" dirty="0">
              <a:solidFill>
                <a:schemeClr val="tx2"/>
              </a:solidFill>
              <a:latin typeface="Cambria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</a:rPr>
              <a:t>Quick Demo</a:t>
            </a:r>
          </a:p>
          <a:p>
            <a:pPr marL="514350" indent="-514350">
              <a:buFont typeface="+mj-lt"/>
              <a:buAutoNum type="arabicPeriod"/>
            </a:pPr>
            <a:endParaRPr lang="en-US" sz="3000" b="1" dirty="0">
              <a:solidFill>
                <a:schemeClr val="tx2"/>
              </a:solidFill>
              <a:latin typeface="Cambria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</a:rPr>
              <a:t>Deep dive into key design decisions</a:t>
            </a:r>
          </a:p>
          <a:p>
            <a:pPr marL="514350" indent="-514350">
              <a:buFont typeface="+mj-lt"/>
              <a:buAutoNum type="arabicPeriod"/>
            </a:pPr>
            <a:endParaRPr lang="en-US" sz="3000" b="1" dirty="0">
              <a:solidFill>
                <a:schemeClr val="tx2"/>
              </a:solidFill>
              <a:latin typeface="Cambria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</a:rPr>
              <a:t>Decagon team grills Balram 🔥🔥🔥</a:t>
            </a:r>
          </a:p>
          <a:p>
            <a:pPr marL="514350" indent="-514350">
              <a:buFont typeface="+mj-lt"/>
              <a:buAutoNum type="arabicPeriod"/>
            </a:pPr>
            <a:endParaRPr lang="en-US" sz="3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732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39D23-0648-5828-E135-4BD455E5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25F9FC26-EE39-C974-0678-DB5155EBDBAA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How a Great CS Agent Should Work</a:t>
            </a:r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57C766-366D-D01A-B049-5BF2AB0542F5}"/>
              </a:ext>
            </a:extLst>
          </p:cNvPr>
          <p:cNvSpPr/>
          <p:nvPr/>
        </p:nvSpPr>
        <p:spPr>
          <a:xfrm>
            <a:off x="796847" y="1316908"/>
            <a:ext cx="10698480" cy="184864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92762D-D9C2-C83C-460B-730189A19824}"/>
              </a:ext>
            </a:extLst>
          </p:cNvPr>
          <p:cNvSpPr txBox="1"/>
          <p:nvPr/>
        </p:nvSpPr>
        <p:spPr>
          <a:xfrm>
            <a:off x="731520" y="13169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228BF2-B487-A628-7645-39E5BDF5B43F}"/>
              </a:ext>
            </a:extLst>
          </p:cNvPr>
          <p:cNvSpPr txBox="1"/>
          <p:nvPr/>
        </p:nvSpPr>
        <p:spPr>
          <a:xfrm>
            <a:off x="731520" y="1540234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drives the user experience, while the code and policy drive the decisions</a:t>
            </a:r>
            <a:endParaRPr lang="en-US" sz="3000" dirty="0">
              <a:solidFill>
                <a:schemeClr val="tx2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18DE108-D671-999C-D2F1-7FC006B1F2CB}"/>
              </a:ext>
            </a:extLst>
          </p:cNvPr>
          <p:cNvSpPr txBox="1"/>
          <p:nvPr/>
        </p:nvSpPr>
        <p:spPr>
          <a:xfrm>
            <a:off x="1463040" y="2431774"/>
            <a:ext cx="9235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2"/>
                </a:solidFill>
              </a:rPr>
              <a:t>Customers get a natural, conversational experience - while every important action, such as those relating to money, data, or trust is enforced, outside the model's judgment.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AE64036-3789-1344-82C6-474F372D1528}"/>
              </a:ext>
            </a:extLst>
          </p:cNvPr>
          <p:cNvSpPr/>
          <p:nvPr/>
        </p:nvSpPr>
        <p:spPr>
          <a:xfrm>
            <a:off x="883768" y="3898828"/>
            <a:ext cx="3291840" cy="2514600"/>
          </a:xfrm>
          <a:prstGeom prst="roundRect">
            <a:avLst>
              <a:gd name="adj" fmla="val 3636"/>
            </a:avLst>
          </a:prstGeom>
          <a:noFill/>
          <a:ln>
            <a:solidFill>
              <a:schemeClr val="tx2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7A0D75D-4C72-5056-2CA8-731BB77AF4B3}"/>
              </a:ext>
            </a:extLst>
          </p:cNvPr>
          <p:cNvSpPr/>
          <p:nvPr/>
        </p:nvSpPr>
        <p:spPr>
          <a:xfrm>
            <a:off x="2118208" y="4173148"/>
            <a:ext cx="822960" cy="822960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D7B45A96-8C96-7BC7-35EA-9474041DA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718" y="4370658"/>
            <a:ext cx="427939" cy="427939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180AEF0F-1D2E-2D04-9657-742D7BF7EDB4}"/>
              </a:ext>
            </a:extLst>
          </p:cNvPr>
          <p:cNvSpPr txBox="1"/>
          <p:nvPr/>
        </p:nvSpPr>
        <p:spPr>
          <a:xfrm>
            <a:off x="883768" y="51332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Orders</a:t>
            </a:r>
            <a:endParaRPr lang="en-US" sz="1700" dirty="0">
              <a:solidFill>
                <a:schemeClr val="tx2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824BE3A-15EF-C1A9-A4E9-4585B4E39017}"/>
              </a:ext>
            </a:extLst>
          </p:cNvPr>
          <p:cNvSpPr txBox="1"/>
          <p:nvPr/>
        </p:nvSpPr>
        <p:spPr>
          <a:xfrm>
            <a:off x="1112368" y="549902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Status, tracking, cancellation, address changes - resolved instantly, no human needed.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10E4F4F-4CF9-F54C-6278-110FBEE86E9C}"/>
              </a:ext>
            </a:extLst>
          </p:cNvPr>
          <p:cNvSpPr/>
          <p:nvPr/>
        </p:nvSpPr>
        <p:spPr>
          <a:xfrm>
            <a:off x="4449928" y="3898828"/>
            <a:ext cx="3291840" cy="2514600"/>
          </a:xfrm>
          <a:prstGeom prst="roundRect">
            <a:avLst>
              <a:gd name="adj" fmla="val 3636"/>
            </a:avLst>
          </a:prstGeom>
          <a:noFill/>
          <a:ln>
            <a:solidFill>
              <a:schemeClr val="tx2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BCDA239-A681-0ED1-7DF5-26C96AF8FF77}"/>
              </a:ext>
            </a:extLst>
          </p:cNvPr>
          <p:cNvSpPr/>
          <p:nvPr/>
        </p:nvSpPr>
        <p:spPr>
          <a:xfrm>
            <a:off x="5684368" y="4173148"/>
            <a:ext cx="822960" cy="822960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1609E60D-D0C4-7FD3-31A1-33AA1F93C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878" y="4370658"/>
            <a:ext cx="427939" cy="427939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DEE10BE1-FBD7-5BEC-93FE-A3270AF59813}"/>
              </a:ext>
            </a:extLst>
          </p:cNvPr>
          <p:cNvSpPr txBox="1"/>
          <p:nvPr/>
        </p:nvSpPr>
        <p:spPr>
          <a:xfrm>
            <a:off x="4449928" y="51332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Returns &amp; Refunds</a:t>
            </a:r>
            <a:endParaRPr lang="en-US" sz="1700" dirty="0">
              <a:solidFill>
                <a:schemeClr val="tx2"/>
              </a:solidFill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88AFA374-3536-FFAE-E031-E57F6D15CF91}"/>
              </a:ext>
            </a:extLst>
          </p:cNvPr>
          <p:cNvSpPr txBox="1"/>
          <p:nvPr/>
        </p:nvSpPr>
        <p:spPr>
          <a:xfrm>
            <a:off x="4678528" y="549902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Collects the details, checks eligibility in code, hands off to a human for the final refund call.</a:t>
            </a: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83C13391-0D6E-7339-E241-1236DCC0B33F}"/>
              </a:ext>
            </a:extLst>
          </p:cNvPr>
          <p:cNvSpPr/>
          <p:nvPr/>
        </p:nvSpPr>
        <p:spPr>
          <a:xfrm>
            <a:off x="8016088" y="3898828"/>
            <a:ext cx="3291840" cy="2514600"/>
          </a:xfrm>
          <a:prstGeom prst="roundRect">
            <a:avLst>
              <a:gd name="adj" fmla="val 3636"/>
            </a:avLst>
          </a:prstGeom>
          <a:noFill/>
          <a:ln>
            <a:solidFill>
              <a:schemeClr val="tx2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DE2B5AA7-8D53-ED60-8C36-8B8144AEDDA3}"/>
              </a:ext>
            </a:extLst>
          </p:cNvPr>
          <p:cNvSpPr/>
          <p:nvPr/>
        </p:nvSpPr>
        <p:spPr>
          <a:xfrm>
            <a:off x="9250528" y="4173148"/>
            <a:ext cx="822960" cy="822960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62FA8F32-87DC-673E-3DFE-7B818185AF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038" y="4370658"/>
            <a:ext cx="427939" cy="427939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A7B9F8FF-ADAC-8548-495C-E01B06C3DE01}"/>
              </a:ext>
            </a:extLst>
          </p:cNvPr>
          <p:cNvSpPr txBox="1"/>
          <p:nvPr/>
        </p:nvSpPr>
        <p:spPr>
          <a:xfrm>
            <a:off x="8016088" y="51332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General Q&amp;A</a:t>
            </a:r>
            <a:endParaRPr lang="en-US" sz="1700" dirty="0">
              <a:solidFill>
                <a:schemeClr val="tx2"/>
              </a:solidFill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DA6FFF5-8870-AFE4-7450-8EDA5604CB74}"/>
              </a:ext>
            </a:extLst>
          </p:cNvPr>
          <p:cNvSpPr txBox="1"/>
          <p:nvPr/>
        </p:nvSpPr>
        <p:spPr>
          <a:xfrm>
            <a:off x="8244688" y="549902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Answers grounded strictly in Bookly's policy knowledge base - never a guess.</a:t>
            </a: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7AFD85F2-9035-04A5-8A0A-FD43F07BFFB6}"/>
              </a:ext>
            </a:extLst>
          </p:cNvPr>
          <p:cNvSpPr txBox="1"/>
          <p:nvPr/>
        </p:nvSpPr>
        <p:spPr>
          <a:xfrm>
            <a:off x="796847" y="34067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Through a 3 agent approach, Bookly can effectively resolve their most important customer support issues</a:t>
            </a:r>
          </a:p>
        </p:txBody>
      </p:sp>
    </p:spTree>
    <p:extLst>
      <p:ext uri="{BB962C8B-B14F-4D97-AF65-F5344CB8AC3E}">
        <p14:creationId xmlns:p14="http://schemas.microsoft.com/office/powerpoint/2010/main" val="463542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5AF5A-EB15-69B3-21ED-5FBE245FC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6A7F030E-73B5-E36D-BF32-6346596B3FE8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Architecture - How a Message Flows Through the System</a:t>
            </a:r>
            <a:endParaRPr lang="en-US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63F0CFA7-5F1E-308C-96F0-5BEA0B985B77}"/>
              </a:ext>
            </a:extLst>
          </p:cNvPr>
          <p:cNvSpPr/>
          <p:nvPr/>
        </p:nvSpPr>
        <p:spPr>
          <a:xfrm>
            <a:off x="508145" y="1444904"/>
            <a:ext cx="6035040" cy="365760"/>
          </a:xfrm>
          <a:prstGeom prst="roundRect">
            <a:avLst>
              <a:gd name="adj" fmla="val 15000"/>
            </a:avLst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B118AAA4-1511-B32F-66F2-A749E28BCF94}"/>
              </a:ext>
            </a:extLst>
          </p:cNvPr>
          <p:cNvSpPr txBox="1"/>
          <p:nvPr/>
        </p:nvSpPr>
        <p:spPr>
          <a:xfrm>
            <a:off x="496071" y="1431711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541"/>
                </a:solidFill>
              </a:rPr>
              <a:t>Customer message</a:t>
            </a:r>
            <a:endParaRPr lang="en-US" sz="1300" b="1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C9CAD151-BDCA-ED9D-637D-27B8092B81C3}"/>
              </a:ext>
            </a:extLst>
          </p:cNvPr>
          <p:cNvSpPr txBox="1"/>
          <p:nvPr/>
        </p:nvSpPr>
        <p:spPr>
          <a:xfrm>
            <a:off x="548640" y="1787804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5068"/>
                </a:solidFill>
              </a:rPr>
              <a:t>↓</a:t>
            </a:r>
            <a:endParaRPr lang="en-US" sz="1600" dirty="0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AC5717FD-A2DD-3E26-FB93-01914F0734CC}"/>
              </a:ext>
            </a:extLst>
          </p:cNvPr>
          <p:cNvSpPr/>
          <p:nvPr/>
        </p:nvSpPr>
        <p:spPr>
          <a:xfrm>
            <a:off x="548640" y="2089556"/>
            <a:ext cx="6035040" cy="914400"/>
          </a:xfrm>
          <a:prstGeom prst="roundRect">
            <a:avLst>
              <a:gd name="adj" fmla="val 8000"/>
            </a:avLst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A8F9EC65-5E07-02A9-1A56-F130B3CD590C}"/>
              </a:ext>
            </a:extLst>
          </p:cNvPr>
          <p:cNvSpPr txBox="1"/>
          <p:nvPr/>
        </p:nvSpPr>
        <p:spPr>
          <a:xfrm>
            <a:off x="731520" y="215356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UnifiedAgent - Router &amp; Orchestrator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6DCC4FA6-CE8D-F2C3-3BB0-1305B2902339}"/>
              </a:ext>
            </a:extLst>
          </p:cNvPr>
          <p:cNvSpPr txBox="1"/>
          <p:nvPr/>
        </p:nvSpPr>
        <p:spPr>
          <a:xfrm>
            <a:off x="731520" y="2455316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Classifies intent each turn, stays locked to one specialist mid-task, free to re-route once that turn resolves.</a:t>
            </a: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3A990AC6-C50B-1C10-F9FC-DC335A6D42AD}"/>
              </a:ext>
            </a:extLst>
          </p:cNvPr>
          <p:cNvSpPr txBox="1"/>
          <p:nvPr/>
        </p:nvSpPr>
        <p:spPr>
          <a:xfrm>
            <a:off x="548640" y="3049676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5068"/>
                </a:solidFill>
              </a:rPr>
              <a:t>↓</a:t>
            </a:r>
            <a:endParaRPr lang="en-US" sz="160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5739EC73-0B01-D029-D85E-4F73D1A7A65F}"/>
              </a:ext>
            </a:extLst>
          </p:cNvPr>
          <p:cNvSpPr/>
          <p:nvPr/>
        </p:nvSpPr>
        <p:spPr>
          <a:xfrm>
            <a:off x="548640" y="3369716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E1C22A01-28E6-B8CE-C501-4E9E94147285}"/>
              </a:ext>
            </a:extLst>
          </p:cNvPr>
          <p:cNvSpPr/>
          <p:nvPr/>
        </p:nvSpPr>
        <p:spPr>
          <a:xfrm>
            <a:off x="1234440" y="3506876"/>
            <a:ext cx="457200" cy="457200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1FC344BE-610D-A00B-4958-9C84F32F5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3616604"/>
            <a:ext cx="237744" cy="237744"/>
          </a:xfrm>
          <a:prstGeom prst="rect">
            <a:avLst/>
          </a:prstGeom>
        </p:spPr>
      </p:pic>
      <p:sp>
        <p:nvSpPr>
          <p:cNvPr id="36" name="Text 12">
            <a:extLst>
              <a:ext uri="{FF2B5EF4-FFF2-40B4-BE49-F238E27FC236}">
                <a16:creationId xmlns:a16="http://schemas.microsoft.com/office/drawing/2014/main" id="{23DA4E12-0EDE-F73F-7575-01040D5AF7F3}"/>
              </a:ext>
            </a:extLst>
          </p:cNvPr>
          <p:cNvSpPr txBox="1"/>
          <p:nvPr/>
        </p:nvSpPr>
        <p:spPr>
          <a:xfrm>
            <a:off x="640080" y="40555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C2541"/>
                </a:solidFill>
              </a:rPr>
              <a:t>OrderAgent</a:t>
            </a:r>
            <a:endParaRPr lang="en-US" sz="14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971FA21B-1553-63FB-98D5-5AA07ECFC063}"/>
              </a:ext>
            </a:extLst>
          </p:cNvPr>
          <p:cNvSpPr txBox="1"/>
          <p:nvPr/>
        </p:nvSpPr>
        <p:spPr>
          <a:xfrm>
            <a:off x="640080" y="437555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5068"/>
                </a:solidFill>
              </a:rPr>
              <a:t>Status, cancel, address changes.</a:t>
            </a:r>
            <a:endParaRPr lang="en-US" sz="1400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E4BFA263-78A1-03CB-C3A4-55F68C1DA54A}"/>
              </a:ext>
            </a:extLst>
          </p:cNvPr>
          <p:cNvSpPr/>
          <p:nvPr/>
        </p:nvSpPr>
        <p:spPr>
          <a:xfrm>
            <a:off x="2651760" y="3369716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2">
              <a:lumMod val="90000"/>
            </a:schemeClr>
          </a:solidFill>
          <a:ln>
            <a:solidFill>
              <a:schemeClr val="tx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2DE92A9B-515A-EB7C-4A66-554904F4F65D}"/>
              </a:ext>
            </a:extLst>
          </p:cNvPr>
          <p:cNvSpPr/>
          <p:nvPr/>
        </p:nvSpPr>
        <p:spPr>
          <a:xfrm>
            <a:off x="3337560" y="3506876"/>
            <a:ext cx="457200" cy="457200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1" descr="preencoded.png">
            <a:extLst>
              <a:ext uri="{FF2B5EF4-FFF2-40B4-BE49-F238E27FC236}">
                <a16:creationId xmlns:a16="http://schemas.microsoft.com/office/drawing/2014/main" id="{47DE600D-829E-DD18-6B64-0DAB2D13A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3616604"/>
            <a:ext cx="237744" cy="237744"/>
          </a:xfrm>
          <a:prstGeom prst="rect">
            <a:avLst/>
          </a:prstGeom>
        </p:spPr>
      </p:pic>
      <p:sp>
        <p:nvSpPr>
          <p:cNvPr id="41" name="Text 16">
            <a:extLst>
              <a:ext uri="{FF2B5EF4-FFF2-40B4-BE49-F238E27FC236}">
                <a16:creationId xmlns:a16="http://schemas.microsoft.com/office/drawing/2014/main" id="{373F41DC-723C-577A-1A8E-C78AFA3ADB5D}"/>
              </a:ext>
            </a:extLst>
          </p:cNvPr>
          <p:cNvSpPr txBox="1"/>
          <p:nvPr/>
        </p:nvSpPr>
        <p:spPr>
          <a:xfrm>
            <a:off x="2743200" y="40555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541"/>
                </a:solidFill>
              </a:rPr>
              <a:t>ReturnAgent</a:t>
            </a:r>
            <a:endParaRPr lang="en-US" sz="1400" dirty="0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A0EEFD00-FF37-FF3A-A0A9-BF53F00CDB91}"/>
              </a:ext>
            </a:extLst>
          </p:cNvPr>
          <p:cNvSpPr txBox="1"/>
          <p:nvPr/>
        </p:nvSpPr>
        <p:spPr>
          <a:xfrm>
            <a:off x="2743200" y="437555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5068"/>
                </a:solidFill>
              </a:rPr>
              <a:t>Eligibility checked in code.</a:t>
            </a:r>
            <a:endParaRPr lang="en-US" sz="1400" dirty="0"/>
          </a:p>
        </p:txBody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3CFBFFB4-D890-4F73-F6FE-B68693E76460}"/>
              </a:ext>
            </a:extLst>
          </p:cNvPr>
          <p:cNvSpPr/>
          <p:nvPr/>
        </p:nvSpPr>
        <p:spPr>
          <a:xfrm>
            <a:off x="4754880" y="3369716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2">
              <a:lumMod val="90000"/>
            </a:schemeClr>
          </a:solidFill>
          <a:ln>
            <a:solidFill>
              <a:schemeClr val="tx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3FDD3609-A1D4-4904-6A73-1B7174B36832}"/>
              </a:ext>
            </a:extLst>
          </p:cNvPr>
          <p:cNvSpPr/>
          <p:nvPr/>
        </p:nvSpPr>
        <p:spPr>
          <a:xfrm>
            <a:off x="5440680" y="3506876"/>
            <a:ext cx="457200" cy="457200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2" descr="preencoded.png">
            <a:extLst>
              <a:ext uri="{FF2B5EF4-FFF2-40B4-BE49-F238E27FC236}">
                <a16:creationId xmlns:a16="http://schemas.microsoft.com/office/drawing/2014/main" id="{18442922-4AC4-65F8-249F-1BD901BCC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0408" y="3616604"/>
            <a:ext cx="237744" cy="237744"/>
          </a:xfrm>
          <a:prstGeom prst="rect">
            <a:avLst/>
          </a:prstGeom>
        </p:spPr>
      </p:pic>
      <p:sp>
        <p:nvSpPr>
          <p:cNvPr id="46" name="Text 20">
            <a:extLst>
              <a:ext uri="{FF2B5EF4-FFF2-40B4-BE49-F238E27FC236}">
                <a16:creationId xmlns:a16="http://schemas.microsoft.com/office/drawing/2014/main" id="{F2FF9930-AD63-727C-D4C4-A4E556D682F6}"/>
              </a:ext>
            </a:extLst>
          </p:cNvPr>
          <p:cNvSpPr txBox="1"/>
          <p:nvPr/>
        </p:nvSpPr>
        <p:spPr>
          <a:xfrm>
            <a:off x="4846320" y="40555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541"/>
                </a:solidFill>
              </a:rPr>
              <a:t>GeneralAgent</a:t>
            </a:r>
            <a:endParaRPr lang="en-US" sz="1400" dirty="0"/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D7FE37E0-C8FF-E7DF-F3F7-593A01B2956E}"/>
              </a:ext>
            </a:extLst>
          </p:cNvPr>
          <p:cNvSpPr txBox="1"/>
          <p:nvPr/>
        </p:nvSpPr>
        <p:spPr>
          <a:xfrm>
            <a:off x="4846320" y="437555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5068"/>
                </a:solidFill>
              </a:rPr>
              <a:t>Answers only from the KB.</a:t>
            </a:r>
            <a:endParaRPr lang="en-US" sz="1400" dirty="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037E0150-1DB0-BFC0-EA6A-A86206DE90C1}"/>
              </a:ext>
            </a:extLst>
          </p:cNvPr>
          <p:cNvSpPr txBox="1"/>
          <p:nvPr/>
        </p:nvSpPr>
        <p:spPr>
          <a:xfrm>
            <a:off x="548640" y="5015636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5068"/>
                </a:solidFill>
              </a:rPr>
              <a:t>↓</a:t>
            </a:r>
            <a:endParaRPr lang="en-US" sz="160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806A5A3A-CAAF-20DC-B35B-78BDB40262C0}"/>
              </a:ext>
            </a:extLst>
          </p:cNvPr>
          <p:cNvSpPr/>
          <p:nvPr/>
        </p:nvSpPr>
        <p:spPr>
          <a:xfrm>
            <a:off x="548640" y="5335676"/>
            <a:ext cx="6035040" cy="502920"/>
          </a:xfrm>
          <a:prstGeom prst="roundRect">
            <a:avLst>
              <a:gd name="adj" fmla="val 10909"/>
            </a:avLst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52B128C5-81EC-C3AB-C5C7-56FF4A55DD5D}"/>
              </a:ext>
            </a:extLst>
          </p:cNvPr>
          <p:cNvSpPr txBox="1"/>
          <p:nvPr/>
        </p:nvSpPr>
        <p:spPr>
          <a:xfrm>
            <a:off x="640080" y="5335676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Performs necessary agent specific checks (cancellation, search policies, etc.)</a:t>
            </a:r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FFF2CD5F-F165-4A1F-A37B-70B8B598EE3E}"/>
              </a:ext>
            </a:extLst>
          </p:cNvPr>
          <p:cNvSpPr txBox="1"/>
          <p:nvPr/>
        </p:nvSpPr>
        <p:spPr>
          <a:xfrm>
            <a:off x="508145" y="5869744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5068"/>
                </a:solidFill>
              </a:rPr>
              <a:t>↓</a:t>
            </a:r>
            <a:endParaRPr lang="en-US" sz="1600" dirty="0"/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7E376217-A91E-8EFE-D346-CF330F0B61E6}"/>
              </a:ext>
            </a:extLst>
          </p:cNvPr>
          <p:cNvSpPr/>
          <p:nvPr/>
        </p:nvSpPr>
        <p:spPr>
          <a:xfrm>
            <a:off x="6949440" y="1478615"/>
            <a:ext cx="457200" cy="457200"/>
          </a:xfrm>
          <a:prstGeom prst="ellipse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r>
              <a:rPr lang="en-US" b="1" dirty="0"/>
              <a:t>1</a:t>
            </a:r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8D0CB02A-B579-D080-916D-825274E4A037}"/>
              </a:ext>
            </a:extLst>
          </p:cNvPr>
          <p:cNvSpPr txBox="1"/>
          <p:nvPr/>
        </p:nvSpPr>
        <p:spPr>
          <a:xfrm>
            <a:off x="7543800" y="1451183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</a:rPr>
              <a:t>Orchestration &amp; Routing</a:t>
            </a:r>
            <a:endParaRPr lang="en-US" sz="1500" dirty="0"/>
          </a:p>
        </p:txBody>
      </p:sp>
      <p:sp>
        <p:nvSpPr>
          <p:cNvPr id="58" name="Text 28">
            <a:extLst>
              <a:ext uri="{FF2B5EF4-FFF2-40B4-BE49-F238E27FC236}">
                <a16:creationId xmlns:a16="http://schemas.microsoft.com/office/drawing/2014/main" id="{1D2ECFD4-F1B7-3811-E059-FC710EDA215F}"/>
              </a:ext>
            </a:extLst>
          </p:cNvPr>
          <p:cNvSpPr txBox="1"/>
          <p:nvPr/>
        </p:nvSpPr>
        <p:spPr>
          <a:xfrm>
            <a:off x="7543800" y="1771223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068"/>
                </a:solidFill>
              </a:rPr>
              <a:t>One router classifies each message and hands it to the right specialist</a:t>
            </a:r>
            <a:endParaRPr lang="en-US" sz="1400" dirty="0"/>
          </a:p>
        </p:txBody>
      </p:sp>
      <p:sp>
        <p:nvSpPr>
          <p:cNvPr id="59" name="Shape 29">
            <a:extLst>
              <a:ext uri="{FF2B5EF4-FFF2-40B4-BE49-F238E27FC236}">
                <a16:creationId xmlns:a16="http://schemas.microsoft.com/office/drawing/2014/main" id="{CA0B33D5-6067-B85B-E380-388F5712EEEA}"/>
              </a:ext>
            </a:extLst>
          </p:cNvPr>
          <p:cNvSpPr/>
          <p:nvPr/>
        </p:nvSpPr>
        <p:spPr>
          <a:xfrm>
            <a:off x="6949440" y="2713055"/>
            <a:ext cx="457200" cy="457200"/>
          </a:xfrm>
          <a:prstGeom prst="ellipse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r>
              <a:rPr lang="en-US" b="1" dirty="0"/>
              <a:t>2</a:t>
            </a:r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DD5F4669-A52B-CF42-0D27-AAF24260CA7E}"/>
              </a:ext>
            </a:extLst>
          </p:cNvPr>
          <p:cNvSpPr txBox="1"/>
          <p:nvPr/>
        </p:nvSpPr>
        <p:spPr>
          <a:xfrm>
            <a:off x="7543800" y="2685623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</a:rPr>
              <a:t>Tools Layer</a:t>
            </a:r>
            <a:endParaRPr lang="en-US" sz="1500" dirty="0"/>
          </a:p>
        </p:txBody>
      </p:sp>
      <p:sp>
        <p:nvSpPr>
          <p:cNvPr id="62" name="Text 31">
            <a:extLst>
              <a:ext uri="{FF2B5EF4-FFF2-40B4-BE49-F238E27FC236}">
                <a16:creationId xmlns:a16="http://schemas.microsoft.com/office/drawing/2014/main" id="{D70E8737-74A5-5D6D-AA1F-498E9DC19033}"/>
              </a:ext>
            </a:extLst>
          </p:cNvPr>
          <p:cNvSpPr txBox="1"/>
          <p:nvPr/>
        </p:nvSpPr>
        <p:spPr>
          <a:xfrm>
            <a:off x="7543800" y="3005663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068"/>
                </a:solidFill>
              </a:rPr>
              <a:t>Every policy lives here as plain Python functions - eligibility, verification, cancellation - called once the agent is run.</a:t>
            </a:r>
            <a:endParaRPr lang="en-US" sz="1400" dirty="0"/>
          </a:p>
        </p:txBody>
      </p:sp>
      <p:sp>
        <p:nvSpPr>
          <p:cNvPr id="63" name="Shape 32">
            <a:extLst>
              <a:ext uri="{FF2B5EF4-FFF2-40B4-BE49-F238E27FC236}">
                <a16:creationId xmlns:a16="http://schemas.microsoft.com/office/drawing/2014/main" id="{D4EA5875-2565-5DCF-8B13-7BA4E35C2222}"/>
              </a:ext>
            </a:extLst>
          </p:cNvPr>
          <p:cNvSpPr/>
          <p:nvPr/>
        </p:nvSpPr>
        <p:spPr>
          <a:xfrm>
            <a:off x="6949440" y="3947495"/>
            <a:ext cx="457200" cy="457200"/>
          </a:xfrm>
          <a:prstGeom prst="ellipse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r>
              <a:rPr lang="en-US" b="1" dirty="0"/>
              <a:t>3</a:t>
            </a:r>
          </a:p>
        </p:txBody>
      </p:sp>
      <p:sp>
        <p:nvSpPr>
          <p:cNvPr id="65" name="Text 33">
            <a:extLst>
              <a:ext uri="{FF2B5EF4-FFF2-40B4-BE49-F238E27FC236}">
                <a16:creationId xmlns:a16="http://schemas.microsoft.com/office/drawing/2014/main" id="{C9147433-B6FF-342C-4E98-A18642D48DAB}"/>
              </a:ext>
            </a:extLst>
          </p:cNvPr>
          <p:cNvSpPr txBox="1"/>
          <p:nvPr/>
        </p:nvSpPr>
        <p:spPr>
          <a:xfrm>
            <a:off x="7543800" y="3920063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</a:rPr>
              <a:t>Memory</a:t>
            </a:r>
            <a:endParaRPr lang="en-US" sz="1500" dirty="0"/>
          </a:p>
        </p:txBody>
      </p:sp>
      <p:sp>
        <p:nvSpPr>
          <p:cNvPr id="66" name="Text 34">
            <a:extLst>
              <a:ext uri="{FF2B5EF4-FFF2-40B4-BE49-F238E27FC236}">
                <a16:creationId xmlns:a16="http://schemas.microsoft.com/office/drawing/2014/main" id="{7AD2DD56-284F-4F4A-6F05-8A42524F7FA3}"/>
              </a:ext>
            </a:extLst>
          </p:cNvPr>
          <p:cNvSpPr txBox="1"/>
          <p:nvPr/>
        </p:nvSpPr>
        <p:spPr>
          <a:xfrm>
            <a:off x="7543800" y="4240103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068"/>
                </a:solidFill>
              </a:rPr>
              <a:t>Per-session state tracks what's been collected; shared 'last order discussed' lets follow-ups skip re-asking; chats are stored in history tab</a:t>
            </a:r>
            <a:endParaRPr lang="en-US" sz="1400" dirty="0"/>
          </a:p>
        </p:txBody>
      </p:sp>
      <p:sp>
        <p:nvSpPr>
          <p:cNvPr id="67" name="Shape 35">
            <a:extLst>
              <a:ext uri="{FF2B5EF4-FFF2-40B4-BE49-F238E27FC236}">
                <a16:creationId xmlns:a16="http://schemas.microsoft.com/office/drawing/2014/main" id="{4B62E0AC-71A3-C480-074E-4F08345F4F89}"/>
              </a:ext>
            </a:extLst>
          </p:cNvPr>
          <p:cNvSpPr/>
          <p:nvPr/>
        </p:nvSpPr>
        <p:spPr>
          <a:xfrm>
            <a:off x="6949440" y="5181935"/>
            <a:ext cx="457200" cy="457200"/>
          </a:xfrm>
          <a:prstGeom prst="ellipse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r>
              <a:rPr lang="en-US" b="1" dirty="0"/>
              <a:t>4</a:t>
            </a:r>
          </a:p>
        </p:txBody>
      </p:sp>
      <p:sp>
        <p:nvSpPr>
          <p:cNvPr id="69" name="Text 36">
            <a:extLst>
              <a:ext uri="{FF2B5EF4-FFF2-40B4-BE49-F238E27FC236}">
                <a16:creationId xmlns:a16="http://schemas.microsoft.com/office/drawing/2014/main" id="{B8D9D108-EC8D-BAF8-83E3-A0F41E6B6A74}"/>
              </a:ext>
            </a:extLst>
          </p:cNvPr>
          <p:cNvSpPr txBox="1"/>
          <p:nvPr/>
        </p:nvSpPr>
        <p:spPr>
          <a:xfrm>
            <a:off x="7543800" y="5154503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</a:rPr>
              <a:t>NLU &amp; Prompts</a:t>
            </a:r>
            <a:endParaRPr lang="en-US" sz="1500" dirty="0"/>
          </a:p>
        </p:txBody>
      </p:sp>
      <p:sp>
        <p:nvSpPr>
          <p:cNvPr id="70" name="Text 37">
            <a:extLst>
              <a:ext uri="{FF2B5EF4-FFF2-40B4-BE49-F238E27FC236}">
                <a16:creationId xmlns:a16="http://schemas.microsoft.com/office/drawing/2014/main" id="{16230DAD-150E-E665-3AC1-6E6501E1550F}"/>
              </a:ext>
            </a:extLst>
          </p:cNvPr>
          <p:cNvSpPr txBox="1"/>
          <p:nvPr/>
        </p:nvSpPr>
        <p:spPr>
          <a:xfrm>
            <a:off x="7543800" y="5474543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068"/>
                </a:solidFill>
              </a:rPr>
              <a:t>Regex for fixed syntax (IDs, emails, dates); one Claude call per turn for fuzzy meaning; KB-grounded answers, with an offline fallback.</a:t>
            </a:r>
            <a:endParaRPr lang="en-US" sz="1400" dirty="0"/>
          </a:p>
        </p:txBody>
      </p:sp>
      <p:sp>
        <p:nvSpPr>
          <p:cNvPr id="71" name="Shape 3">
            <a:extLst>
              <a:ext uri="{FF2B5EF4-FFF2-40B4-BE49-F238E27FC236}">
                <a16:creationId xmlns:a16="http://schemas.microsoft.com/office/drawing/2014/main" id="{2350F2B7-1682-8F6F-0C8C-4E515F5D8921}"/>
              </a:ext>
            </a:extLst>
          </p:cNvPr>
          <p:cNvSpPr/>
          <p:nvPr/>
        </p:nvSpPr>
        <p:spPr>
          <a:xfrm>
            <a:off x="548640" y="6202977"/>
            <a:ext cx="6035040" cy="365760"/>
          </a:xfrm>
          <a:prstGeom prst="roundRect">
            <a:avLst>
              <a:gd name="adj" fmla="val 15000"/>
            </a:avLst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4">
            <a:extLst>
              <a:ext uri="{FF2B5EF4-FFF2-40B4-BE49-F238E27FC236}">
                <a16:creationId xmlns:a16="http://schemas.microsoft.com/office/drawing/2014/main" id="{47BAEF9C-E85C-1492-D24E-DD21B6035869}"/>
              </a:ext>
            </a:extLst>
          </p:cNvPr>
          <p:cNvSpPr txBox="1"/>
          <p:nvPr/>
        </p:nvSpPr>
        <p:spPr>
          <a:xfrm>
            <a:off x="536566" y="618978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541"/>
                </a:solidFill>
              </a:rPr>
              <a:t>Response to Customer</a:t>
            </a:r>
            <a:endParaRPr lang="en-US" sz="1300" b="1" dirty="0"/>
          </a:p>
        </p:txBody>
      </p:sp>
    </p:spTree>
    <p:extLst>
      <p:ext uri="{BB962C8B-B14F-4D97-AF65-F5344CB8AC3E}">
        <p14:creationId xmlns:p14="http://schemas.microsoft.com/office/powerpoint/2010/main" val="799526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C769F-5F53-EE2F-C617-4E788CDD5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C7233576-9F8A-6D73-80C2-47769C924A9A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Key Decision 1:</a:t>
            </a:r>
            <a:endParaRPr lang="en-US" dirty="0"/>
          </a:p>
        </p:txBody>
      </p:sp>
      <p:sp>
        <p:nvSpPr>
          <p:cNvPr id="2" name="Title 23">
            <a:extLst>
              <a:ext uri="{FF2B5EF4-FFF2-40B4-BE49-F238E27FC236}">
                <a16:creationId xmlns:a16="http://schemas.microsoft.com/office/drawing/2014/main" id="{ADBC8022-AFB6-0C54-E4DB-EFF2B0CE0E71}"/>
              </a:ext>
            </a:extLst>
          </p:cNvPr>
          <p:cNvSpPr txBox="1">
            <a:spLocks/>
          </p:cNvSpPr>
          <p:nvPr/>
        </p:nvSpPr>
        <p:spPr>
          <a:xfrm>
            <a:off x="762000" y="964238"/>
            <a:ext cx="10698480" cy="77724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000" b="1" kern="1200" spc="-3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tx1"/>
                </a:solidFill>
              </a:rPr>
              <a:t>Guardrails live in the code, not the Prompt</a:t>
            </a:r>
            <a:endParaRPr lang="en-US" sz="2000" dirty="0"/>
          </a:p>
        </p:txBody>
      </p:sp>
      <p:sp>
        <p:nvSpPr>
          <p:cNvPr id="3" name="Slide Number Placeholder 0">
            <a:extLst>
              <a:ext uri="{FF2B5EF4-FFF2-40B4-BE49-F238E27FC236}">
                <a16:creationId xmlns:a16="http://schemas.microsoft.com/office/drawing/2014/main" id="{314BCCE3-6ED8-29C9-3614-F60DFA65C7EF}"/>
              </a:ext>
            </a:extLst>
          </p:cNvPr>
          <p:cNvSpPr txBox="1">
            <a:spLocks/>
          </p:cNvSpPr>
          <p:nvPr/>
        </p:nvSpPr>
        <p:spPr>
          <a:xfrm>
            <a:off x="11658600" y="69704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5</a:t>
            </a:fld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2161F90-11D8-9275-EBCB-463D5E8BE85F}"/>
              </a:ext>
            </a:extLst>
          </p:cNvPr>
          <p:cNvSpPr/>
          <p:nvPr/>
        </p:nvSpPr>
        <p:spPr>
          <a:xfrm>
            <a:off x="426568" y="1839922"/>
            <a:ext cx="3566160" cy="4480560"/>
          </a:xfrm>
          <a:prstGeom prst="roundRect">
            <a:avLst>
              <a:gd name="adj" fmla="val 2564"/>
            </a:avLst>
          </a:prstGeom>
          <a:solidFill>
            <a:schemeClr val="bg2">
              <a:lumMod val="90000"/>
            </a:schemeClr>
          </a:solidFill>
          <a:ln/>
          <a:effectLst>
            <a:outerShdw blurRad="76200" dist="25400" dir="5400000" algn="bl" rotWithShape="0">
              <a:srgbClr val="1C254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1EF5681-34C6-4CB7-6112-94000CCF7CCF}"/>
              </a:ext>
            </a:extLst>
          </p:cNvPr>
          <p:cNvSpPr/>
          <p:nvPr/>
        </p:nvSpPr>
        <p:spPr>
          <a:xfrm>
            <a:off x="1889608" y="2159962"/>
            <a:ext cx="640080" cy="640080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BBD87C0-DF70-DEF0-E35E-7F3FF17759FB}"/>
              </a:ext>
            </a:extLst>
          </p:cNvPr>
          <p:cNvSpPr txBox="1"/>
          <p:nvPr/>
        </p:nvSpPr>
        <p:spPr>
          <a:xfrm>
            <a:off x="426568" y="293720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I chose</a:t>
            </a:r>
            <a:endParaRPr lang="en-US" sz="1700" dirty="0">
              <a:solidFill>
                <a:schemeClr val="tx2"/>
              </a:solidFill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15E997E-7403-EB9E-C1BC-221D591DC32C}"/>
              </a:ext>
            </a:extLst>
          </p:cNvPr>
          <p:cNvSpPr txBox="1"/>
          <p:nvPr/>
        </p:nvSpPr>
        <p:spPr>
          <a:xfrm>
            <a:off x="700888" y="3440122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Every policy check is a plain Python function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The agent calls the functions and obeys the result – it does not improvise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If there is know knowledge base match, the agent will not guess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0A148011-B952-1705-4E58-4CA1FAB3AB85}"/>
              </a:ext>
            </a:extLst>
          </p:cNvPr>
          <p:cNvSpPr/>
          <p:nvPr/>
        </p:nvSpPr>
        <p:spPr>
          <a:xfrm>
            <a:off x="4312768" y="1839922"/>
            <a:ext cx="3566160" cy="4480560"/>
          </a:xfrm>
          <a:prstGeom prst="roundRect">
            <a:avLst>
              <a:gd name="adj" fmla="val 2564"/>
            </a:avLst>
          </a:prstGeom>
          <a:solidFill>
            <a:schemeClr val="bg2">
              <a:lumMod val="90000"/>
            </a:schemeClr>
          </a:solidFill>
          <a:ln/>
          <a:effectLst>
            <a:outerShdw blurRad="76200" dist="25400" dir="5400000" algn="bl" rotWithShape="0">
              <a:srgbClr val="1C254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0D49F39-48C6-F58C-B426-8A7A9035D1F4}"/>
              </a:ext>
            </a:extLst>
          </p:cNvPr>
          <p:cNvSpPr/>
          <p:nvPr/>
        </p:nvSpPr>
        <p:spPr>
          <a:xfrm>
            <a:off x="5763451" y="2159962"/>
            <a:ext cx="640080" cy="640080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CF366BDD-26AF-AC26-0E78-C302B574F641}"/>
              </a:ext>
            </a:extLst>
          </p:cNvPr>
          <p:cNvSpPr txBox="1"/>
          <p:nvPr/>
        </p:nvSpPr>
        <p:spPr>
          <a:xfrm>
            <a:off x="4312768" y="293720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I traded off</a:t>
            </a:r>
            <a:endParaRPr lang="en-US" sz="1700" dirty="0">
              <a:solidFill>
                <a:schemeClr val="tx2"/>
              </a:solidFill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E14FB92-8FF4-F86C-C44F-57577C294732}"/>
              </a:ext>
            </a:extLst>
          </p:cNvPr>
          <p:cNvSpPr txBox="1"/>
          <p:nvPr/>
        </p:nvSpPr>
        <p:spPr>
          <a:xfrm>
            <a:off x="4587088" y="3440122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Less flexibility than letting the model reason in natural language.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Every new rule is a code change and a redeploy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Slower to iterate on than adjusting wording.</a:t>
            </a: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DD97A1A6-3DD6-82B5-319E-B204416E19E4}"/>
              </a:ext>
            </a:extLst>
          </p:cNvPr>
          <p:cNvSpPr/>
          <p:nvPr/>
        </p:nvSpPr>
        <p:spPr>
          <a:xfrm>
            <a:off x="8198968" y="1839922"/>
            <a:ext cx="3566160" cy="4480560"/>
          </a:xfrm>
          <a:prstGeom prst="roundRect">
            <a:avLst>
              <a:gd name="adj" fmla="val 2564"/>
            </a:avLst>
          </a:prstGeom>
          <a:solidFill>
            <a:schemeClr val="bg2">
              <a:lumMod val="90000"/>
            </a:schemeClr>
          </a:solidFill>
          <a:ln/>
          <a:effectLst>
            <a:outerShdw blurRad="76200" dist="25400" dir="5400000" algn="bl" rotWithShape="0">
              <a:srgbClr val="1C254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3787FAEA-3AAD-F1A8-C497-0A0FFFE4C021}"/>
              </a:ext>
            </a:extLst>
          </p:cNvPr>
          <p:cNvSpPr/>
          <p:nvPr/>
        </p:nvSpPr>
        <p:spPr>
          <a:xfrm>
            <a:off x="9662008" y="2159962"/>
            <a:ext cx="640080" cy="640080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2266CCE9-1265-4E49-3870-866019098E21}"/>
              </a:ext>
            </a:extLst>
          </p:cNvPr>
          <p:cNvSpPr txBox="1"/>
          <p:nvPr/>
        </p:nvSpPr>
        <p:spPr>
          <a:xfrm>
            <a:off x="8198968" y="293720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Why it was worth it</a:t>
            </a:r>
            <a:endParaRPr lang="en-US" sz="1700" dirty="0">
              <a:solidFill>
                <a:schemeClr val="tx2"/>
              </a:solidFill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018FF6A-E353-C20F-DD6E-DCA764C4810F}"/>
              </a:ext>
            </a:extLst>
          </p:cNvPr>
          <p:cNvSpPr txBox="1"/>
          <p:nvPr/>
        </p:nvSpPr>
        <p:spPr>
          <a:xfrm>
            <a:off x="8473288" y="3440122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 prompt is a suggestion, while a function is a guarantee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Not compromising anything touching money or trust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Fully auditable in case of issues</a:t>
            </a:r>
          </a:p>
        </p:txBody>
      </p:sp>
      <p:pic>
        <p:nvPicPr>
          <p:cNvPr id="79" name="Graphic 78" descr="Checkmark with solid fill">
            <a:extLst>
              <a:ext uri="{FF2B5EF4-FFF2-40B4-BE49-F238E27FC236}">
                <a16:creationId xmlns:a16="http://schemas.microsoft.com/office/drawing/2014/main" id="{C9C7DE32-5BB4-1DFA-7B3A-FAD3E68524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0571" y="2320802"/>
            <a:ext cx="365761" cy="365761"/>
          </a:xfrm>
          <a:prstGeom prst="rect">
            <a:avLst/>
          </a:prstGeom>
        </p:spPr>
      </p:pic>
      <p:pic>
        <p:nvPicPr>
          <p:cNvPr id="81" name="Graphic 80" descr="Badge Unfollow outline">
            <a:extLst>
              <a:ext uri="{FF2B5EF4-FFF2-40B4-BE49-F238E27FC236}">
                <a16:creationId xmlns:a16="http://schemas.microsoft.com/office/drawing/2014/main" id="{E5DCBEED-3587-697E-F5CA-2450129C7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36510" y="2243167"/>
            <a:ext cx="481496" cy="481496"/>
          </a:xfrm>
          <a:prstGeom prst="rect">
            <a:avLst/>
          </a:prstGeom>
        </p:spPr>
      </p:pic>
      <p:pic>
        <p:nvPicPr>
          <p:cNvPr id="83" name="Graphic 82" descr="Ribbon with solid fill">
            <a:extLst>
              <a:ext uri="{FF2B5EF4-FFF2-40B4-BE49-F238E27FC236}">
                <a16:creationId xmlns:a16="http://schemas.microsoft.com/office/drawing/2014/main" id="{013CF9F6-1A44-E95E-83FE-1D26B3C54E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74249" y="2272203"/>
            <a:ext cx="415598" cy="41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9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2395C-C57E-A5B8-A81A-F277B2F83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91EB83D8-D291-5FA5-14F7-90C3CBAB8170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Key Decision 2:</a:t>
            </a:r>
            <a:endParaRPr lang="en-US" dirty="0"/>
          </a:p>
        </p:txBody>
      </p:sp>
      <p:sp>
        <p:nvSpPr>
          <p:cNvPr id="2" name="Title 23">
            <a:extLst>
              <a:ext uri="{FF2B5EF4-FFF2-40B4-BE49-F238E27FC236}">
                <a16:creationId xmlns:a16="http://schemas.microsoft.com/office/drawing/2014/main" id="{B0624DA7-26BB-041A-9096-593628CF1B0F}"/>
              </a:ext>
            </a:extLst>
          </p:cNvPr>
          <p:cNvSpPr txBox="1">
            <a:spLocks/>
          </p:cNvSpPr>
          <p:nvPr/>
        </p:nvSpPr>
        <p:spPr>
          <a:xfrm>
            <a:off x="762000" y="964238"/>
            <a:ext cx="10698480" cy="77724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000" b="1" kern="1200" spc="-3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Clarify ambiguity and r</a:t>
            </a:r>
            <a:r>
              <a:rPr lang="en-US" sz="2000" dirty="0">
                <a:solidFill>
                  <a:schemeClr val="tx1"/>
                </a:solidFill>
              </a:rPr>
              <a:t>equire confirmation before taking any action</a:t>
            </a:r>
            <a:endParaRPr lang="en-US" sz="2000" dirty="0"/>
          </a:p>
        </p:txBody>
      </p:sp>
      <p:sp>
        <p:nvSpPr>
          <p:cNvPr id="3" name="Slide Number Placeholder 0">
            <a:extLst>
              <a:ext uri="{FF2B5EF4-FFF2-40B4-BE49-F238E27FC236}">
                <a16:creationId xmlns:a16="http://schemas.microsoft.com/office/drawing/2014/main" id="{8AE5AF29-4B34-5362-72F5-CAB1B690BF40}"/>
              </a:ext>
            </a:extLst>
          </p:cNvPr>
          <p:cNvSpPr txBox="1">
            <a:spLocks/>
          </p:cNvSpPr>
          <p:nvPr/>
        </p:nvSpPr>
        <p:spPr>
          <a:xfrm>
            <a:off x="11658600" y="69704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6</a:t>
            </a:fld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914DCC5-FDCC-065D-E463-3D238387F165}"/>
              </a:ext>
            </a:extLst>
          </p:cNvPr>
          <p:cNvSpPr/>
          <p:nvPr/>
        </p:nvSpPr>
        <p:spPr>
          <a:xfrm>
            <a:off x="426568" y="1839922"/>
            <a:ext cx="3566160" cy="4480560"/>
          </a:xfrm>
          <a:prstGeom prst="roundRect">
            <a:avLst>
              <a:gd name="adj" fmla="val 2564"/>
            </a:avLst>
          </a:prstGeom>
          <a:solidFill>
            <a:schemeClr val="bg2">
              <a:lumMod val="90000"/>
            </a:schemeClr>
          </a:solidFill>
          <a:ln/>
          <a:effectLst>
            <a:outerShdw blurRad="76200" dist="25400" dir="5400000" algn="bl" rotWithShape="0">
              <a:srgbClr val="1C254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A91A358-995C-E232-9B28-110F4A2470B7}"/>
              </a:ext>
            </a:extLst>
          </p:cNvPr>
          <p:cNvSpPr txBox="1"/>
          <p:nvPr/>
        </p:nvSpPr>
        <p:spPr>
          <a:xfrm>
            <a:off x="426568" y="293720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I chose</a:t>
            </a:r>
            <a:endParaRPr lang="en-US" sz="1700" dirty="0">
              <a:solidFill>
                <a:schemeClr val="tx2"/>
              </a:solidFill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C300988-DC10-17D9-6F68-63E87FF9E215}"/>
              </a:ext>
            </a:extLst>
          </p:cNvPr>
          <p:cNvSpPr/>
          <p:nvPr/>
        </p:nvSpPr>
        <p:spPr>
          <a:xfrm>
            <a:off x="4312768" y="1839922"/>
            <a:ext cx="3566160" cy="4480560"/>
          </a:xfrm>
          <a:prstGeom prst="roundRect">
            <a:avLst>
              <a:gd name="adj" fmla="val 2564"/>
            </a:avLst>
          </a:prstGeom>
          <a:solidFill>
            <a:schemeClr val="bg2">
              <a:lumMod val="90000"/>
            </a:schemeClr>
          </a:solidFill>
          <a:ln/>
          <a:effectLst>
            <a:outerShdw blurRad="76200" dist="25400" dir="5400000" algn="bl" rotWithShape="0">
              <a:srgbClr val="1C254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96BB1B8-A180-2DCA-1E35-1C35880D4A90}"/>
              </a:ext>
            </a:extLst>
          </p:cNvPr>
          <p:cNvSpPr txBox="1"/>
          <p:nvPr/>
        </p:nvSpPr>
        <p:spPr>
          <a:xfrm>
            <a:off x="4312768" y="293720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I traded off</a:t>
            </a:r>
            <a:endParaRPr lang="en-US" sz="1700" dirty="0">
              <a:solidFill>
                <a:schemeClr val="tx2"/>
              </a:solidFill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5E94054-742F-2454-1DC9-3D28ED1DA63D}"/>
              </a:ext>
            </a:extLst>
          </p:cNvPr>
          <p:cNvSpPr/>
          <p:nvPr/>
        </p:nvSpPr>
        <p:spPr>
          <a:xfrm>
            <a:off x="8198968" y="1839922"/>
            <a:ext cx="3566160" cy="4480560"/>
          </a:xfrm>
          <a:prstGeom prst="roundRect">
            <a:avLst>
              <a:gd name="adj" fmla="val 2564"/>
            </a:avLst>
          </a:prstGeom>
          <a:solidFill>
            <a:schemeClr val="bg2">
              <a:lumMod val="90000"/>
            </a:schemeClr>
          </a:solidFill>
          <a:ln/>
          <a:effectLst>
            <a:outerShdw blurRad="76200" dist="25400" dir="5400000" algn="bl" rotWithShape="0">
              <a:srgbClr val="1C254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083D76E7-3A8D-A312-9070-D4B96A87485C}"/>
              </a:ext>
            </a:extLst>
          </p:cNvPr>
          <p:cNvSpPr txBox="1"/>
          <p:nvPr/>
        </p:nvSpPr>
        <p:spPr>
          <a:xfrm>
            <a:off x="8198968" y="293720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Why it was worth it</a:t>
            </a:r>
            <a:endParaRPr lang="en-US" sz="1700" dirty="0">
              <a:solidFill>
                <a:schemeClr val="tx2"/>
              </a:solidFill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D48C6267-DC51-F10F-7CB7-8CE664C15D4F}"/>
              </a:ext>
            </a:extLst>
          </p:cNvPr>
          <p:cNvSpPr/>
          <p:nvPr/>
        </p:nvSpPr>
        <p:spPr>
          <a:xfrm>
            <a:off x="1889608" y="2159962"/>
            <a:ext cx="640080" cy="640080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BE3A3671-8D40-9E74-6AF4-79258CC2B295}"/>
              </a:ext>
            </a:extLst>
          </p:cNvPr>
          <p:cNvSpPr/>
          <p:nvPr/>
        </p:nvSpPr>
        <p:spPr>
          <a:xfrm>
            <a:off x="5763451" y="2159962"/>
            <a:ext cx="640080" cy="640080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074BF643-EAB6-4B3E-0F9E-D300F33F21EA}"/>
              </a:ext>
            </a:extLst>
          </p:cNvPr>
          <p:cNvSpPr/>
          <p:nvPr/>
        </p:nvSpPr>
        <p:spPr>
          <a:xfrm>
            <a:off x="9662008" y="2159962"/>
            <a:ext cx="640080" cy="640080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Graphic 21" descr="Checkmark with solid fill">
            <a:extLst>
              <a:ext uri="{FF2B5EF4-FFF2-40B4-BE49-F238E27FC236}">
                <a16:creationId xmlns:a16="http://schemas.microsoft.com/office/drawing/2014/main" id="{86D301AC-1F0C-1E59-BB30-DC6CD60FDC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0571" y="2320802"/>
            <a:ext cx="365761" cy="365761"/>
          </a:xfrm>
          <a:prstGeom prst="rect">
            <a:avLst/>
          </a:prstGeom>
        </p:spPr>
      </p:pic>
      <p:pic>
        <p:nvPicPr>
          <p:cNvPr id="23" name="Graphic 22" descr="Badge Unfollow outline">
            <a:extLst>
              <a:ext uri="{FF2B5EF4-FFF2-40B4-BE49-F238E27FC236}">
                <a16:creationId xmlns:a16="http://schemas.microsoft.com/office/drawing/2014/main" id="{09E6957D-0FEF-0AE2-8FF1-4A7F927EFB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36510" y="2243167"/>
            <a:ext cx="481496" cy="481496"/>
          </a:xfrm>
          <a:prstGeom prst="rect">
            <a:avLst/>
          </a:prstGeom>
        </p:spPr>
      </p:pic>
      <p:pic>
        <p:nvPicPr>
          <p:cNvPr id="25" name="Graphic 24" descr="Ribbon with solid fill">
            <a:extLst>
              <a:ext uri="{FF2B5EF4-FFF2-40B4-BE49-F238E27FC236}">
                <a16:creationId xmlns:a16="http://schemas.microsoft.com/office/drawing/2014/main" id="{A00663B3-8B27-BA28-778C-4CAB4F5FEC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74249" y="2272203"/>
            <a:ext cx="415598" cy="415598"/>
          </a:xfrm>
          <a:prstGeom prst="rect">
            <a:avLst/>
          </a:prstGeom>
        </p:spPr>
      </p:pic>
      <p:sp>
        <p:nvSpPr>
          <p:cNvPr id="26" name="Text 5">
            <a:extLst>
              <a:ext uri="{FF2B5EF4-FFF2-40B4-BE49-F238E27FC236}">
                <a16:creationId xmlns:a16="http://schemas.microsoft.com/office/drawing/2014/main" id="{6F8AA429-075A-0CDD-9AA8-17EF9BD52A60}"/>
              </a:ext>
            </a:extLst>
          </p:cNvPr>
          <p:cNvSpPr txBox="1"/>
          <p:nvPr/>
        </p:nvSpPr>
        <p:spPr>
          <a:xfrm>
            <a:off x="700888" y="3440122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Ask when ambiguous; which order, which item , a vague reason, </a:t>
            </a:r>
            <a:r>
              <a:rPr lang="en-US" sz="1600" dirty="0" err="1">
                <a:solidFill>
                  <a:schemeClr val="tx2"/>
                </a:solidFill>
              </a:rPr>
              <a:t>etc</a:t>
            </a:r>
            <a:endParaRPr lang="en-US" sz="1600" dirty="0">
              <a:solidFill>
                <a:schemeClr val="tx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Require an explicit yes/no before any write actions: cancel, address change, refund handoff</a:t>
            </a: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E78B2124-8468-2944-BCB5-8E655216C911}"/>
              </a:ext>
            </a:extLst>
          </p:cNvPr>
          <p:cNvSpPr txBox="1"/>
          <p:nvPr/>
        </p:nvSpPr>
        <p:spPr>
          <a:xfrm>
            <a:off x="4587088" y="3440122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 few extra turns before the agent actions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Longer customer experience from question to action</a:t>
            </a: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4051578C-150B-E9C1-1091-6091211954DF}"/>
              </a:ext>
            </a:extLst>
          </p:cNvPr>
          <p:cNvSpPr txBox="1"/>
          <p:nvPr/>
        </p:nvSpPr>
        <p:spPr>
          <a:xfrm>
            <a:off x="8473288" y="3440122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 wrong guess on a destruction action or financial action costs more than a question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Confirming before acting builds trust – both with the customers and the full organization</a:t>
            </a:r>
          </a:p>
        </p:txBody>
      </p:sp>
    </p:spTree>
    <p:extLst>
      <p:ext uri="{BB962C8B-B14F-4D97-AF65-F5344CB8AC3E}">
        <p14:creationId xmlns:p14="http://schemas.microsoft.com/office/powerpoint/2010/main" val="1574554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28F91-10C7-52E9-762F-51313811B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B536F003-DEA8-41B0-072F-B80C7C03FA8C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Next Steps with More Time</a:t>
            </a:r>
            <a:endParaRPr lang="en-US" dirty="0"/>
          </a:p>
        </p:txBody>
      </p:sp>
      <p:sp>
        <p:nvSpPr>
          <p:cNvPr id="3" name="Slide Number Placeholder 0">
            <a:extLst>
              <a:ext uri="{FF2B5EF4-FFF2-40B4-BE49-F238E27FC236}">
                <a16:creationId xmlns:a16="http://schemas.microsoft.com/office/drawing/2014/main" id="{5B8A71EF-5188-D114-AEDA-FECDEFBD62FF}"/>
              </a:ext>
            </a:extLst>
          </p:cNvPr>
          <p:cNvSpPr txBox="1">
            <a:spLocks/>
          </p:cNvSpPr>
          <p:nvPr/>
        </p:nvSpPr>
        <p:spPr>
          <a:xfrm>
            <a:off x="11658600" y="69704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7</a:t>
            </a:fld>
            <a:endParaRPr lang="en-US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489DA597-D743-65CB-0CA7-F03688619574}"/>
              </a:ext>
            </a:extLst>
          </p:cNvPr>
          <p:cNvSpPr txBox="1"/>
          <p:nvPr/>
        </p:nvSpPr>
        <p:spPr>
          <a:xfrm>
            <a:off x="1828800" y="14630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Top Priority: Tiered Auto-Refund Agent</a:t>
            </a:r>
            <a:endParaRPr lang="en-US" sz="2200" dirty="0">
              <a:solidFill>
                <a:schemeClr val="tx2"/>
              </a:solidFill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28541E30-9006-B5E9-6FBD-D3774A017345}"/>
              </a:ext>
            </a:extLst>
          </p:cNvPr>
          <p:cNvSpPr txBox="1"/>
          <p:nvPr/>
        </p:nvSpPr>
        <p:spPr>
          <a:xfrm>
            <a:off x="1828800" y="1835332"/>
            <a:ext cx="9418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Today every return escalates to a human for the refund amount. With more time, I’d let the agent resolve small, low-risk refunds itself. This would requires thorough testing to make sure it has captured all edge cases. </a:t>
            </a:r>
          </a:p>
          <a:p>
            <a:pPr marL="0" indent="0">
              <a:buNone/>
            </a:pPr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5B269B3-5C3F-254C-0916-25D6AC443CAA}"/>
              </a:ext>
            </a:extLst>
          </p:cNvPr>
          <p:cNvGrpSpPr/>
          <p:nvPr/>
        </p:nvGrpSpPr>
        <p:grpSpPr>
          <a:xfrm>
            <a:off x="1828800" y="3059725"/>
            <a:ext cx="9204808" cy="1188720"/>
            <a:chOff x="1158088" y="3200400"/>
            <a:chExt cx="9875520" cy="1188720"/>
          </a:xfrm>
        </p:grpSpPr>
        <p:sp>
          <p:nvSpPr>
            <p:cNvPr id="23" name="Shape 4">
              <a:extLst>
                <a:ext uri="{FF2B5EF4-FFF2-40B4-BE49-F238E27FC236}">
                  <a16:creationId xmlns:a16="http://schemas.microsoft.com/office/drawing/2014/main" id="{E3ED8E20-0332-4881-EE52-57405A2F6CC0}"/>
                </a:ext>
              </a:extLst>
            </p:cNvPr>
            <p:cNvSpPr/>
            <p:nvPr/>
          </p:nvSpPr>
          <p:spPr>
            <a:xfrm>
              <a:off x="1158088" y="3200400"/>
              <a:ext cx="3017520" cy="1188720"/>
            </a:xfrm>
            <a:prstGeom prst="roundRect">
              <a:avLst>
                <a:gd name="adj" fmla="val 7692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5">
              <a:extLst>
                <a:ext uri="{FF2B5EF4-FFF2-40B4-BE49-F238E27FC236}">
                  <a16:creationId xmlns:a16="http://schemas.microsoft.com/office/drawing/2014/main" id="{0D2DC139-4A20-7DD4-8D69-EE62BF4EBD9A}"/>
                </a:ext>
              </a:extLst>
            </p:cNvPr>
            <p:cNvSpPr txBox="1"/>
            <p:nvPr/>
          </p:nvSpPr>
          <p:spPr>
            <a:xfrm>
              <a:off x="1158088" y="3461130"/>
              <a:ext cx="301752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2"/>
                  </a:solidFill>
                </a:rPr>
                <a:t>&gt; 3 orders refunded per each day</a:t>
              </a:r>
            </a:p>
          </p:txBody>
        </p:sp>
        <p:sp>
          <p:nvSpPr>
            <p:cNvPr id="27" name="Shape 7">
              <a:extLst>
                <a:ext uri="{FF2B5EF4-FFF2-40B4-BE49-F238E27FC236}">
                  <a16:creationId xmlns:a16="http://schemas.microsoft.com/office/drawing/2014/main" id="{57BAA551-ABC2-E874-E9B8-754945CBF136}"/>
                </a:ext>
              </a:extLst>
            </p:cNvPr>
            <p:cNvSpPr/>
            <p:nvPr/>
          </p:nvSpPr>
          <p:spPr>
            <a:xfrm>
              <a:off x="4587088" y="3200400"/>
              <a:ext cx="3017520" cy="1188720"/>
            </a:xfrm>
            <a:prstGeom prst="roundRect">
              <a:avLst>
                <a:gd name="adj" fmla="val 7692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8">
              <a:extLst>
                <a:ext uri="{FF2B5EF4-FFF2-40B4-BE49-F238E27FC236}">
                  <a16:creationId xmlns:a16="http://schemas.microsoft.com/office/drawing/2014/main" id="{43EBCE8E-46C9-F18C-68B7-FBB94B3937CC}"/>
                </a:ext>
              </a:extLst>
            </p:cNvPr>
            <p:cNvSpPr txBox="1"/>
            <p:nvPr/>
          </p:nvSpPr>
          <p:spPr>
            <a:xfrm>
              <a:off x="4587088" y="3337560"/>
              <a:ext cx="301752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600" dirty="0"/>
            </a:p>
          </p:txBody>
        </p:sp>
        <p:sp>
          <p:nvSpPr>
            <p:cNvPr id="30" name="Shape 10">
              <a:extLst>
                <a:ext uri="{FF2B5EF4-FFF2-40B4-BE49-F238E27FC236}">
                  <a16:creationId xmlns:a16="http://schemas.microsoft.com/office/drawing/2014/main" id="{D8D995B3-D696-28BB-8C7B-DA426AF68B3E}"/>
                </a:ext>
              </a:extLst>
            </p:cNvPr>
            <p:cNvSpPr/>
            <p:nvPr/>
          </p:nvSpPr>
          <p:spPr>
            <a:xfrm>
              <a:off x="8016088" y="3200400"/>
              <a:ext cx="3017520" cy="1188720"/>
            </a:xfrm>
            <a:prstGeom prst="roundRect">
              <a:avLst>
                <a:gd name="adj" fmla="val 7692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23CFD442-6FA9-2046-DAFE-E458D38C1D59}"/>
                </a:ext>
              </a:extLst>
            </p:cNvPr>
            <p:cNvSpPr txBox="1"/>
            <p:nvPr/>
          </p:nvSpPr>
          <p:spPr>
            <a:xfrm>
              <a:off x="8016088" y="3436416"/>
              <a:ext cx="301752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2"/>
                  </a:solidFill>
                </a:rPr>
                <a:t>Order greater than $25</a:t>
              </a:r>
            </a:p>
          </p:txBody>
        </p:sp>
        <p:sp>
          <p:nvSpPr>
            <p:cNvPr id="33" name="Text 11">
              <a:extLst>
                <a:ext uri="{FF2B5EF4-FFF2-40B4-BE49-F238E27FC236}">
                  <a16:creationId xmlns:a16="http://schemas.microsoft.com/office/drawing/2014/main" id="{DE66CB54-BD76-B351-D15E-CEB10B8D6E88}"/>
                </a:ext>
              </a:extLst>
            </p:cNvPr>
            <p:cNvSpPr txBox="1"/>
            <p:nvPr/>
          </p:nvSpPr>
          <p:spPr>
            <a:xfrm>
              <a:off x="4587088" y="3461130"/>
              <a:ext cx="301752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2"/>
                  </a:solidFill>
                </a:rPr>
                <a:t>Subjective or questionable reason for return</a:t>
              </a:r>
            </a:p>
          </p:txBody>
        </p:sp>
      </p:grpSp>
      <p:sp>
        <p:nvSpPr>
          <p:cNvPr id="34" name="Text 13">
            <a:extLst>
              <a:ext uri="{FF2B5EF4-FFF2-40B4-BE49-F238E27FC236}">
                <a16:creationId xmlns:a16="http://schemas.microsoft.com/office/drawing/2014/main" id="{265E8CDB-8F6E-8AB5-C7B5-2EEE780AF112}"/>
              </a:ext>
            </a:extLst>
          </p:cNvPr>
          <p:cNvSpPr txBox="1"/>
          <p:nvPr/>
        </p:nvSpPr>
        <p:spPr>
          <a:xfrm>
            <a:off x="731520" y="452829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Other things I'd prioritize next</a:t>
            </a:r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7151EAF5-999A-497E-360F-8B8C1B591B3A}"/>
              </a:ext>
            </a:extLst>
          </p:cNvPr>
          <p:cNvSpPr/>
          <p:nvPr/>
        </p:nvSpPr>
        <p:spPr>
          <a:xfrm>
            <a:off x="700888" y="4985490"/>
            <a:ext cx="502920" cy="502920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1" descr="preencoded.png">
            <a:extLst>
              <a:ext uri="{FF2B5EF4-FFF2-40B4-BE49-F238E27FC236}">
                <a16:creationId xmlns:a16="http://schemas.microsoft.com/office/drawing/2014/main" id="{F4A2EC3F-902B-1BEB-1586-CAD016CD3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88" y="5106191"/>
            <a:ext cx="261518" cy="261518"/>
          </a:xfrm>
          <a:prstGeom prst="rect">
            <a:avLst/>
          </a:prstGeom>
        </p:spPr>
      </p:pic>
      <p:sp>
        <p:nvSpPr>
          <p:cNvPr id="37" name="Text 15">
            <a:extLst>
              <a:ext uri="{FF2B5EF4-FFF2-40B4-BE49-F238E27FC236}">
                <a16:creationId xmlns:a16="http://schemas.microsoft.com/office/drawing/2014/main" id="{158B14F5-6BD4-BBCD-8957-374FFF5FE464}"/>
              </a:ext>
            </a:extLst>
          </p:cNvPr>
          <p:cNvSpPr txBox="1"/>
          <p:nvPr/>
        </p:nvSpPr>
        <p:spPr>
          <a:xfrm>
            <a:off x="1340968" y="495805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Durable storage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AB7709CD-0B28-8BA0-AE34-032A4222CAD8}"/>
              </a:ext>
            </a:extLst>
          </p:cNvPr>
          <p:cNvSpPr txBox="1"/>
          <p:nvPr/>
        </p:nvSpPr>
        <p:spPr>
          <a:xfrm>
            <a:off x="1340968" y="527809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Move session &amp; order state from in-memory dicts to a real database.</a:t>
            </a:r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B91710E8-9A01-2E21-475E-D2A3CE9D4837}"/>
              </a:ext>
            </a:extLst>
          </p:cNvPr>
          <p:cNvSpPr/>
          <p:nvPr/>
        </p:nvSpPr>
        <p:spPr>
          <a:xfrm>
            <a:off x="4404208" y="4985490"/>
            <a:ext cx="502920" cy="502920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2" descr="preencoded.png">
            <a:extLst>
              <a:ext uri="{FF2B5EF4-FFF2-40B4-BE49-F238E27FC236}">
                <a16:creationId xmlns:a16="http://schemas.microsoft.com/office/drawing/2014/main" id="{B9F502DC-87E2-DA5A-6433-3A3EE6100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908" y="5106191"/>
            <a:ext cx="261518" cy="261518"/>
          </a:xfrm>
          <a:prstGeom prst="rect">
            <a:avLst/>
          </a:prstGeom>
        </p:spPr>
      </p:pic>
      <p:sp>
        <p:nvSpPr>
          <p:cNvPr id="41" name="Text 18">
            <a:extLst>
              <a:ext uri="{FF2B5EF4-FFF2-40B4-BE49-F238E27FC236}">
                <a16:creationId xmlns:a16="http://schemas.microsoft.com/office/drawing/2014/main" id="{BA0A8F34-459E-95FC-1DC3-2DBF6C351878}"/>
              </a:ext>
            </a:extLst>
          </p:cNvPr>
          <p:cNvSpPr txBox="1"/>
          <p:nvPr/>
        </p:nvSpPr>
        <p:spPr>
          <a:xfrm>
            <a:off x="5044288" y="495805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Real authentication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F52624EC-4F52-B93E-C8FA-F5F66255BA8C}"/>
              </a:ext>
            </a:extLst>
          </p:cNvPr>
          <p:cNvSpPr txBox="1"/>
          <p:nvPr/>
        </p:nvSpPr>
        <p:spPr>
          <a:xfrm>
            <a:off x="5044288" y="527809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Replace order-number + email matching with authenticated sessions.</a:t>
            </a:r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608E4550-DEDF-5FC9-82DC-5007027768CC}"/>
              </a:ext>
            </a:extLst>
          </p:cNvPr>
          <p:cNvSpPr/>
          <p:nvPr/>
        </p:nvSpPr>
        <p:spPr>
          <a:xfrm>
            <a:off x="8107528" y="4985490"/>
            <a:ext cx="502920" cy="502920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3" descr="preencoded.png">
            <a:extLst>
              <a:ext uri="{FF2B5EF4-FFF2-40B4-BE49-F238E27FC236}">
                <a16:creationId xmlns:a16="http://schemas.microsoft.com/office/drawing/2014/main" id="{7BFEF95F-3CF0-4421-DAB2-CFE371970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8228" y="5106191"/>
            <a:ext cx="261518" cy="261518"/>
          </a:xfrm>
          <a:prstGeom prst="rect">
            <a:avLst/>
          </a:prstGeom>
        </p:spPr>
      </p:pic>
      <p:sp>
        <p:nvSpPr>
          <p:cNvPr id="45" name="Text 21">
            <a:extLst>
              <a:ext uri="{FF2B5EF4-FFF2-40B4-BE49-F238E27FC236}">
                <a16:creationId xmlns:a16="http://schemas.microsoft.com/office/drawing/2014/main" id="{9B2CC3F8-2547-D837-F37C-46F8BB709E92}"/>
              </a:ext>
            </a:extLst>
          </p:cNvPr>
          <p:cNvSpPr txBox="1"/>
          <p:nvPr/>
        </p:nvSpPr>
        <p:spPr>
          <a:xfrm>
            <a:off x="8747608" y="495805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Evaluation harness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DE723924-7D7F-97D4-ADF9-A458A99B929E}"/>
              </a:ext>
            </a:extLst>
          </p:cNvPr>
          <p:cNvSpPr txBox="1"/>
          <p:nvPr/>
        </p:nvSpPr>
        <p:spPr>
          <a:xfrm>
            <a:off x="8747608" y="527809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Automated guardrail regression tests &amp; adversarial prompts on every change.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C6161C9-434A-3DCB-510A-B76504E22AC4}"/>
              </a:ext>
            </a:extLst>
          </p:cNvPr>
          <p:cNvGrpSpPr/>
          <p:nvPr/>
        </p:nvGrpSpPr>
        <p:grpSpPr>
          <a:xfrm>
            <a:off x="784517" y="1418553"/>
            <a:ext cx="824332" cy="777240"/>
            <a:chOff x="731520" y="1417320"/>
            <a:chExt cx="914400" cy="914400"/>
          </a:xfrm>
        </p:grpSpPr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C280DF92-CE30-19B9-6205-285857C98A16}"/>
                </a:ext>
              </a:extLst>
            </p:cNvPr>
            <p:cNvSpPr/>
            <p:nvPr/>
          </p:nvSpPr>
          <p:spPr>
            <a:xfrm>
              <a:off x="731520" y="1417320"/>
              <a:ext cx="914400" cy="9144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48" name="Graphic 47" descr="Star with solid fill">
              <a:extLst>
                <a:ext uri="{FF2B5EF4-FFF2-40B4-BE49-F238E27FC236}">
                  <a16:creationId xmlns:a16="http://schemas.microsoft.com/office/drawing/2014/main" id="{E8525A20-1027-805B-3FEB-7BDE3633AC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6628" y="1577340"/>
              <a:ext cx="594360" cy="594360"/>
            </a:xfrm>
            <a:prstGeom prst="rect">
              <a:avLst/>
            </a:prstGeom>
          </p:spPr>
        </p:pic>
      </p:grpSp>
      <p:sp>
        <p:nvSpPr>
          <p:cNvPr id="52" name="Text 13">
            <a:extLst>
              <a:ext uri="{FF2B5EF4-FFF2-40B4-BE49-F238E27FC236}">
                <a16:creationId xmlns:a16="http://schemas.microsoft.com/office/drawing/2014/main" id="{B9F1FF4E-CC7D-8F44-F196-3668A44B61DD}"/>
              </a:ext>
            </a:extLst>
          </p:cNvPr>
          <p:cNvSpPr txBox="1"/>
          <p:nvPr/>
        </p:nvSpPr>
        <p:spPr>
          <a:xfrm>
            <a:off x="1801426" y="2611321"/>
            <a:ext cx="923218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chemeClr val="tx2"/>
                </a:solidFill>
              </a:rPr>
              <a:t>The following Guardrails would be put in place and require escalation, regardless of policy:</a:t>
            </a:r>
          </a:p>
        </p:txBody>
      </p:sp>
    </p:spTree>
    <p:extLst>
      <p:ext uri="{BB962C8B-B14F-4D97-AF65-F5344CB8AC3E}">
        <p14:creationId xmlns:p14="http://schemas.microsoft.com/office/powerpoint/2010/main" val="2012996592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680</Words>
  <Application>Microsoft Macintosh PowerPoint</Application>
  <PresentationFormat>Widescreen</PresentationFormat>
  <Paragraphs>95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</vt:lpstr>
      <vt:lpstr>Neue Haas Grotesk Text Pro</vt:lpstr>
      <vt:lpstr>Helena</vt:lpstr>
      <vt:lpstr>📖  Bookly Pitch Deck</vt:lpstr>
      <vt:lpstr>Proposed agenda</vt:lpstr>
      <vt:lpstr>How a Great CS Agent Should Work</vt:lpstr>
      <vt:lpstr>Architecture - How a Message Flows Through the System</vt:lpstr>
      <vt:lpstr>Key Decision 1:</vt:lpstr>
      <vt:lpstr>Key Decision 2:</vt:lpstr>
      <vt:lpstr>Next Steps with More Time</vt:lpstr>
    </vt:vector>
  </TitlesOfParts>
  <Company>Bookly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Bookly Support Agent - Solution Pitch</dc:title>
  <dc:subject>Bookly Support Agent - Solution Pitch</dc:subject>
  <dc:creator>Bookly</dc:creator>
  <cp:lastModifiedBy>Balram Prasad</cp:lastModifiedBy>
  <cp:revision>6</cp:revision>
  <dcterms:created xsi:type="dcterms:W3CDTF">2026-10-04T12:27:19Z</dcterms:created>
  <dcterms:modified xsi:type="dcterms:W3CDTF">2026-10-07T22:03:45Z</dcterms:modified>
</cp:coreProperties>
</file>